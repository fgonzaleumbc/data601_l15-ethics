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8"/>
  </p:notesMasterIdLst>
  <p:sldIdLst>
    <p:sldId id="362" r:id="rId2"/>
    <p:sldId id="392" r:id="rId3"/>
    <p:sldId id="332" r:id="rId4"/>
    <p:sldId id="360" r:id="rId5"/>
    <p:sldId id="347" r:id="rId6"/>
    <p:sldId id="361" r:id="rId7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28F573EC-8282-4326-8526-AAE420F33F2F}">
          <p14:sldIdLst>
            <p14:sldId id="362"/>
            <p14:sldId id="392"/>
            <p14:sldId id="332"/>
            <p14:sldId id="360"/>
            <p14:sldId id="347"/>
            <p14:sldId id="36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162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browse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DB413"/>
    <a:srgbClr val="FFB514"/>
    <a:srgbClr val="FFC101"/>
    <a:srgbClr val="FFE48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25130"/>
    <p:restoredTop sz="81706" autoAdjust="0"/>
  </p:normalViewPr>
  <p:slideViewPr>
    <p:cSldViewPr snapToGrid="0" snapToObjects="1">
      <p:cViewPr varScale="1">
        <p:scale>
          <a:sx n="174" d="100"/>
          <a:sy n="174" d="100"/>
        </p:scale>
        <p:origin x="1316" y="100"/>
      </p:cViewPr>
      <p:guideLst>
        <p:guide orient="horz" pos="162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12.5</c:v>
                </c:pt>
                <c:pt idx="1">
                  <c:v>87.5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7615-AD42-9F4D-954DA85334C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legend>
      <c:legendPos val="r"/>
      <c:overlay val="0"/>
    </c:legend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pie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Yes</c:v>
                </c:pt>
                <c:pt idx="1">
                  <c:v>No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55.6</c:v>
                </c:pt>
                <c:pt idx="1">
                  <c:v>44.4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0-2F75-0244-AB1A-23ADD38ABA9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</c:pieChart>
    </c:plotArea>
    <c:plotVisOnly val="1"/>
    <c:dispBlanksAs val="zero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C5F3281-8FB9-473E-A2D4-7CB57B98F8A4}" type="datetimeFigureOut">
              <a:rPr lang="en-US" smtClean="0"/>
              <a:t>11/30/2025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5B2E1FE-4189-4379-96FB-81743B5C961D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003609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776D8-D5F2-4315-8561-EE3E797738BD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Principles of Survey Design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r>
              <a:rPr lang="en-US"/>
              <a:t>8/28/2013</a:t>
            </a:r>
          </a:p>
        </p:txBody>
      </p:sp>
    </p:spTree>
    <p:extLst>
      <p:ext uri="{BB962C8B-B14F-4D97-AF65-F5344CB8AC3E}">
        <p14:creationId xmlns:p14="http://schemas.microsoft.com/office/powerpoint/2010/main" val="117409040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baseline="0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776D8-D5F2-4315-8561-EE3E797738BD}" type="slidenum">
              <a:rPr lang="en-US" smtClean="0"/>
              <a:pPr/>
              <a:t>4</a:t>
            </a:fld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idx="11"/>
          </p:nvPr>
        </p:nvSpPr>
        <p:spPr/>
        <p:txBody>
          <a:bodyPr/>
          <a:lstStyle/>
          <a:p>
            <a:r>
              <a:rPr lang="en-US"/>
              <a:t>8/28/2013</a:t>
            </a:r>
          </a:p>
        </p:txBody>
      </p:sp>
    </p:spTree>
    <p:extLst>
      <p:ext uri="{BB962C8B-B14F-4D97-AF65-F5344CB8AC3E}">
        <p14:creationId xmlns:p14="http://schemas.microsoft.com/office/powerpoint/2010/main" val="295134989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A776D8-D5F2-4315-8561-EE3E797738BD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Header Placeholder 5"/>
          <p:cNvSpPr>
            <a:spLocks noGrp="1"/>
          </p:cNvSpPr>
          <p:nvPr>
            <p:ph type="hdr" sz="quarter" idx="12"/>
          </p:nvPr>
        </p:nvSpPr>
        <p:spPr/>
        <p:txBody>
          <a:bodyPr/>
          <a:lstStyle/>
          <a:p>
            <a:r>
              <a:rPr lang="en-US"/>
              <a:t>Principles of Survey Design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idx="13"/>
          </p:nvPr>
        </p:nvSpPr>
        <p:spPr/>
        <p:txBody>
          <a:bodyPr/>
          <a:lstStyle/>
          <a:p>
            <a:r>
              <a:rPr lang="en-US"/>
              <a:t>8/28/2013</a:t>
            </a:r>
          </a:p>
        </p:txBody>
      </p:sp>
    </p:spTree>
    <p:extLst>
      <p:ext uri="{BB962C8B-B14F-4D97-AF65-F5344CB8AC3E}">
        <p14:creationId xmlns:p14="http://schemas.microsoft.com/office/powerpoint/2010/main" val="374450882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3" name="Group 12">
            <a:extLst>
              <a:ext uri="{FF2B5EF4-FFF2-40B4-BE49-F238E27FC236}">
                <a16:creationId xmlns:a16="http://schemas.microsoft.com/office/drawing/2014/main" id="{4750DB4D-B8A9-1444-AD38-47E7DC842E34}"/>
              </a:ext>
            </a:extLst>
          </p:cNvPr>
          <p:cNvGrpSpPr/>
          <p:nvPr userDrawn="1"/>
        </p:nvGrpSpPr>
        <p:grpSpPr>
          <a:xfrm>
            <a:off x="0" y="548292"/>
            <a:ext cx="9144000" cy="2236694"/>
            <a:chOff x="0" y="564776"/>
            <a:chExt cx="9144000" cy="2236694"/>
          </a:xfrm>
        </p:grpSpPr>
        <p:pic>
          <p:nvPicPr>
            <p:cNvPr id="8" name="Picture 7" descr="MD-flag-background-ppt.png">
              <a:extLst>
                <a:ext uri="{FF2B5EF4-FFF2-40B4-BE49-F238E27FC236}">
                  <a16:creationId xmlns:a16="http://schemas.microsoft.com/office/drawing/2014/main" id="{F7107FCE-8F5A-C04F-BCC1-EE10E5862684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564776"/>
              <a:ext cx="9143999" cy="571500"/>
            </a:xfrm>
            <a:prstGeom prst="rect">
              <a:avLst/>
            </a:prstGeom>
          </p:spPr>
        </p:pic>
        <p:pic>
          <p:nvPicPr>
            <p:cNvPr id="9" name="Picture 8" descr="MD-flag-background-ppt.png">
              <a:extLst>
                <a:ext uri="{FF2B5EF4-FFF2-40B4-BE49-F238E27FC236}">
                  <a16:creationId xmlns:a16="http://schemas.microsoft.com/office/drawing/2014/main" id="{F0253FC5-B373-A74E-B6E6-917757C74FE7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1129553"/>
              <a:ext cx="9143999" cy="571500"/>
            </a:xfrm>
            <a:prstGeom prst="rect">
              <a:avLst/>
            </a:prstGeom>
          </p:spPr>
        </p:pic>
        <p:pic>
          <p:nvPicPr>
            <p:cNvPr id="10" name="Picture 9" descr="MD-flag-background-ppt.png">
              <a:extLst>
                <a:ext uri="{FF2B5EF4-FFF2-40B4-BE49-F238E27FC236}">
                  <a16:creationId xmlns:a16="http://schemas.microsoft.com/office/drawing/2014/main" id="{3FA1E57B-75B7-514C-9D43-1B196ABC5D28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85365"/>
              <a:ext cx="9143999" cy="571500"/>
            </a:xfrm>
            <a:prstGeom prst="rect">
              <a:avLst/>
            </a:prstGeom>
          </p:spPr>
        </p:pic>
        <p:pic>
          <p:nvPicPr>
            <p:cNvPr id="11" name="Picture 10" descr="MD-flag-background-ppt.png">
              <a:extLst>
                <a:ext uri="{FF2B5EF4-FFF2-40B4-BE49-F238E27FC236}">
                  <a16:creationId xmlns:a16="http://schemas.microsoft.com/office/drawing/2014/main" id="{C4096511-65C6-374D-AD92-8D8CE459900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29970"/>
              <a:ext cx="9143999" cy="571500"/>
            </a:xfrm>
            <a:prstGeom prst="rect">
              <a:avLst/>
            </a:prstGeom>
          </p:spPr>
        </p:pic>
      </p:grp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418665" y="3657600"/>
            <a:ext cx="6400800" cy="860612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dirty="0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560606-3CFB-4EE2-8AAE-D7675A68ED24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6" name="Picture 5" descr="UMBC-primary-logo-CMYK-on-black.png">
            <a:extLst>
              <a:ext uri="{FF2B5EF4-FFF2-40B4-BE49-F238E27FC236}">
                <a16:creationId xmlns:a16="http://schemas.microsoft.com/office/drawing/2014/main" id="{03D4822F-9476-F54E-82C8-367A21C0DA5F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504" y="119795"/>
            <a:ext cx="2486041" cy="572729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26140" y="1328879"/>
            <a:ext cx="7772400" cy="1102519"/>
          </a:xfrm>
        </p:spPr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</p:spTree>
    <p:extLst>
      <p:ext uri="{BB962C8B-B14F-4D97-AF65-F5344CB8AC3E}">
        <p14:creationId xmlns:p14="http://schemas.microsoft.com/office/powerpoint/2010/main" val="338745844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43752" y="1"/>
            <a:ext cx="7953935" cy="571500"/>
          </a:xfrm>
        </p:spPr>
        <p:txBody>
          <a:bodyPr>
            <a:noAutofit/>
          </a:bodyPr>
          <a:lstStyle>
            <a:lvl1pPr algn="l">
              <a:defRPr sz="3600">
                <a:solidFill>
                  <a:srgbClr val="FFB514"/>
                </a:solidFill>
                <a:latin typeface="+mj-lt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732866"/>
            <a:ext cx="8229600" cy="3861758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2C2994F-8C5B-4125-BC43-FDF0BFA1C038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6" name="Picture 5" descr="UMBC-primary-logo-CMYK-on-black.png">
            <a:extLst>
              <a:ext uri="{FF2B5EF4-FFF2-40B4-BE49-F238E27FC236}">
                <a16:creationId xmlns:a16="http://schemas.microsoft.com/office/drawing/2014/main" id="{EE0ACFE5-55C9-5545-A73B-CB4CB0413A62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02"/>
          <a:stretch/>
        </p:blipFill>
        <p:spPr>
          <a:xfrm>
            <a:off x="8647318" y="60511"/>
            <a:ext cx="449617" cy="477371"/>
          </a:xfrm>
          <a:prstGeom prst="rect">
            <a:avLst/>
          </a:prstGeom>
        </p:spPr>
      </p:pic>
      <p:sp>
        <p:nvSpPr>
          <p:cNvPr id="7" name="Slide Number Placeholder 5">
            <a:extLst>
              <a:ext uri="{FF2B5EF4-FFF2-40B4-BE49-F238E27FC236}">
                <a16:creationId xmlns:a16="http://schemas.microsoft.com/office/drawing/2014/main" id="{B0DB6846-96DE-BF74-D0DD-DE26807F3E2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7351653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5">
            <a:extLst>
              <a:ext uri="{FF2B5EF4-FFF2-40B4-BE49-F238E27FC236}">
                <a16:creationId xmlns:a16="http://schemas.microsoft.com/office/drawing/2014/main" id="{8ACCFA99-DD46-7C45-A193-598BC076FA5F}"/>
              </a:ext>
            </a:extLst>
          </p:cNvPr>
          <p:cNvGrpSpPr/>
          <p:nvPr userDrawn="1"/>
        </p:nvGrpSpPr>
        <p:grpSpPr>
          <a:xfrm>
            <a:off x="0" y="490812"/>
            <a:ext cx="9144000" cy="2812676"/>
            <a:chOff x="0" y="564776"/>
            <a:chExt cx="9144000" cy="2812676"/>
          </a:xfrm>
        </p:grpSpPr>
        <p:pic>
          <p:nvPicPr>
            <p:cNvPr id="7" name="Picture 6" descr="MD-flag-background-ppt.png">
              <a:extLst>
                <a:ext uri="{FF2B5EF4-FFF2-40B4-BE49-F238E27FC236}">
                  <a16:creationId xmlns:a16="http://schemas.microsoft.com/office/drawing/2014/main" id="{ADF5561A-3EA4-AF4F-9492-1001A1A7DA75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564776"/>
              <a:ext cx="9143999" cy="571500"/>
            </a:xfrm>
            <a:prstGeom prst="rect">
              <a:avLst/>
            </a:prstGeom>
          </p:spPr>
        </p:pic>
        <p:pic>
          <p:nvPicPr>
            <p:cNvPr id="8" name="Picture 7" descr="MD-flag-background-ppt.png">
              <a:extLst>
                <a:ext uri="{FF2B5EF4-FFF2-40B4-BE49-F238E27FC236}">
                  <a16:creationId xmlns:a16="http://schemas.microsoft.com/office/drawing/2014/main" id="{19A5CF5A-8A6E-0D4D-B683-74160C23AD1E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1" y="1129553"/>
              <a:ext cx="9143999" cy="571500"/>
            </a:xfrm>
            <a:prstGeom prst="rect">
              <a:avLst/>
            </a:prstGeom>
          </p:spPr>
        </p:pic>
        <p:pic>
          <p:nvPicPr>
            <p:cNvPr id="9" name="Picture 8" descr="MD-flag-background-ppt.png">
              <a:extLst>
                <a:ext uri="{FF2B5EF4-FFF2-40B4-BE49-F238E27FC236}">
                  <a16:creationId xmlns:a16="http://schemas.microsoft.com/office/drawing/2014/main" id="{4A50654A-436C-CD41-B289-F04E4F49AA26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1685365"/>
              <a:ext cx="9143999" cy="571500"/>
            </a:xfrm>
            <a:prstGeom prst="rect">
              <a:avLst/>
            </a:prstGeom>
          </p:spPr>
        </p:pic>
        <p:pic>
          <p:nvPicPr>
            <p:cNvPr id="10" name="Picture 9" descr="MD-flag-background-ppt.png">
              <a:extLst>
                <a:ext uri="{FF2B5EF4-FFF2-40B4-BE49-F238E27FC236}">
                  <a16:creationId xmlns:a16="http://schemas.microsoft.com/office/drawing/2014/main" id="{EB74444E-859B-7544-B26A-809A5D17F502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229970"/>
              <a:ext cx="9143999" cy="571500"/>
            </a:xfrm>
            <a:prstGeom prst="rect">
              <a:avLst/>
            </a:prstGeom>
          </p:spPr>
        </p:pic>
        <p:pic>
          <p:nvPicPr>
            <p:cNvPr id="11" name="Picture 10" descr="MD-flag-background-ppt.png">
              <a:extLst>
                <a:ext uri="{FF2B5EF4-FFF2-40B4-BE49-F238E27FC236}">
                  <a16:creationId xmlns:a16="http://schemas.microsoft.com/office/drawing/2014/main" id="{500D4BB9-7C8C-ED42-A028-63F65FD44D30}"/>
                </a:ext>
              </a:extLst>
            </p:cNvPr>
            <p:cNvPicPr>
              <a:picLocks noChangeAspect="1"/>
            </p:cNvPicPr>
            <p:nvPr userDrawn="1"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0" y="2805952"/>
              <a:ext cx="9143999" cy="571500"/>
            </a:xfrm>
            <a:prstGeom prst="rect">
              <a:avLst/>
            </a:prstGeom>
          </p:spPr>
        </p:pic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2000">
                <a:solidFill>
                  <a:srgbClr val="FFB514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31FCFC7-0F1F-4D91-8088-A34B679ABB1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12" name="Picture 11" descr="UMBC-primary-logo-CMYK-on-black.png">
            <a:extLst>
              <a:ext uri="{FF2B5EF4-FFF2-40B4-BE49-F238E27FC236}">
                <a16:creationId xmlns:a16="http://schemas.microsoft.com/office/drawing/2014/main" id="{96CB9B5A-7640-F540-8160-BB283040C647}"/>
              </a:ext>
            </a:extLst>
          </p:cNvPr>
          <p:cNvPicPr>
            <a:picLocks noChangeAspect="1"/>
          </p:cNvPicPr>
          <p:nvPr userDrawn="1"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42504" y="119795"/>
            <a:ext cx="2486041" cy="572729"/>
          </a:xfrm>
          <a:prstGeom prst="rect">
            <a:avLst/>
          </a:prstGeom>
        </p:spPr>
      </p:pic>
      <p:sp>
        <p:nvSpPr>
          <p:cNvPr id="14" name="Slide Number Placeholder 5">
            <a:extLst>
              <a:ext uri="{FF2B5EF4-FFF2-40B4-BE49-F238E27FC236}">
                <a16:creationId xmlns:a16="http://schemas.microsoft.com/office/drawing/2014/main" id="{6C9FEB3F-EC1D-EEE4-F47C-C49F315F215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795289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1"/>
            <a:ext cx="8229600" cy="578224"/>
          </a:xfrm>
        </p:spPr>
        <p:txBody>
          <a:bodyPr>
            <a:noAutofit/>
          </a:bodyPr>
          <a:lstStyle>
            <a:lvl1pPr algn="l">
              <a:defRPr sz="3600">
                <a:solidFill>
                  <a:srgbClr val="FFB51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699248"/>
            <a:ext cx="4038600" cy="392557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699248"/>
            <a:ext cx="4038600" cy="3925574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2C8A931-59AE-4E48-98EA-691B208BDBB5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7" name="Picture 6" descr="UMBC-primary-logo-CMYK-on-black.png">
            <a:extLst>
              <a:ext uri="{FF2B5EF4-FFF2-40B4-BE49-F238E27FC236}">
                <a16:creationId xmlns:a16="http://schemas.microsoft.com/office/drawing/2014/main" id="{0B7B184D-2247-F142-AE6C-96F398938970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02"/>
          <a:stretch/>
        </p:blipFill>
        <p:spPr>
          <a:xfrm>
            <a:off x="8647318" y="60511"/>
            <a:ext cx="449617" cy="477371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DFB105C6-BFE5-5F03-B286-CEA6330353F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781911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63923" y="1"/>
            <a:ext cx="8229600" cy="578224"/>
          </a:xfrm>
        </p:spPr>
        <p:txBody>
          <a:bodyPr>
            <a:noAutofit/>
          </a:bodyPr>
          <a:lstStyle>
            <a:lvl1pPr algn="l">
              <a:defRPr sz="3600">
                <a:solidFill>
                  <a:srgbClr val="FFB51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199" y="657666"/>
            <a:ext cx="4040188" cy="4362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199" y="1176618"/>
            <a:ext cx="4040188" cy="352758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657666"/>
            <a:ext cx="4041775" cy="43620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156447"/>
            <a:ext cx="4041775" cy="3527582"/>
          </a:xfrm>
        </p:spPr>
        <p:txBody>
          <a:bodyPr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28F0E23-852E-4EDE-8FAE-7CF7CE78D616}" type="datetime1">
              <a:rPr lang="en-US" smtClean="0"/>
              <a:t>11/30/2025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9" name="Picture 8" descr="UMBC-primary-logo-CMYK-on-black.png">
            <a:extLst>
              <a:ext uri="{FF2B5EF4-FFF2-40B4-BE49-F238E27FC236}">
                <a16:creationId xmlns:a16="http://schemas.microsoft.com/office/drawing/2014/main" id="{600E6DBC-8669-9742-8A68-AC1A4BFC3219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02"/>
          <a:stretch/>
        </p:blipFill>
        <p:spPr>
          <a:xfrm>
            <a:off x="8647318" y="60511"/>
            <a:ext cx="449617" cy="477371"/>
          </a:xfrm>
          <a:prstGeom prst="rect">
            <a:avLst/>
          </a:prstGeom>
        </p:spPr>
      </p:pic>
      <p:sp>
        <p:nvSpPr>
          <p:cNvPr id="10" name="Slide Number Placeholder 5">
            <a:extLst>
              <a:ext uri="{FF2B5EF4-FFF2-40B4-BE49-F238E27FC236}">
                <a16:creationId xmlns:a16="http://schemas.microsoft.com/office/drawing/2014/main" id="{D976266F-FB9D-56C3-AEC3-FCC78E7C12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580798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30305" y="0"/>
            <a:ext cx="8229600" cy="558053"/>
          </a:xfrm>
        </p:spPr>
        <p:txBody>
          <a:bodyPr>
            <a:noAutofit/>
          </a:bodyPr>
          <a:lstStyle>
            <a:lvl1pPr algn="l">
              <a:defRPr sz="3600">
                <a:solidFill>
                  <a:srgbClr val="FFB514"/>
                </a:solidFill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F8959F-9C1F-406A-8E65-1FBEB2E70D82}" type="datetime1">
              <a:rPr lang="en-US" smtClean="0"/>
              <a:t>11/30/2025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5" name="Picture 4" descr="UMBC-primary-logo-CMYK-on-black.png">
            <a:extLst>
              <a:ext uri="{FF2B5EF4-FFF2-40B4-BE49-F238E27FC236}">
                <a16:creationId xmlns:a16="http://schemas.microsoft.com/office/drawing/2014/main" id="{95CC24AD-04BF-7847-B01C-F6D18DA7D37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02"/>
          <a:stretch/>
        </p:blipFill>
        <p:spPr>
          <a:xfrm>
            <a:off x="8647318" y="60511"/>
            <a:ext cx="449617" cy="47737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B66531-A4A8-9C3E-886D-852C1E400BB3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5401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5D843C-3F9D-4758-B497-FBECC98DFF97}" type="datetime1">
              <a:rPr lang="en-US" smtClean="0"/>
              <a:t>11/30/2025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4" name="Picture 3" descr="UMBC-primary-logo-CMYK-on-black.png">
            <a:extLst>
              <a:ext uri="{FF2B5EF4-FFF2-40B4-BE49-F238E27FC236}">
                <a16:creationId xmlns:a16="http://schemas.microsoft.com/office/drawing/2014/main" id="{83E10C5A-C998-2E4A-8F08-FE7032772E1C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02"/>
          <a:stretch/>
        </p:blipFill>
        <p:spPr>
          <a:xfrm>
            <a:off x="8647318" y="60511"/>
            <a:ext cx="449617" cy="477371"/>
          </a:xfrm>
          <a:prstGeom prst="rect">
            <a:avLst/>
          </a:prstGeom>
        </p:spPr>
      </p:pic>
      <p:sp>
        <p:nvSpPr>
          <p:cNvPr id="5" name="Slide Number Placeholder 5">
            <a:extLst>
              <a:ext uri="{FF2B5EF4-FFF2-40B4-BE49-F238E27FC236}">
                <a16:creationId xmlns:a16="http://schemas.microsoft.com/office/drawing/2014/main" id="{6C7A3994-2350-AE34-B628-9631EE5A100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080937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679122"/>
            <a:ext cx="3008313" cy="777366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679122"/>
            <a:ext cx="5111750" cy="3915501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609519"/>
            <a:ext cx="3008313" cy="2985104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90A02D-3C91-464E-9AC1-E4DD75D7E612}" type="datetime1">
              <a:rPr lang="en-US" smtClean="0"/>
              <a:t>11/30/2025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dirty="0"/>
              <a:t>URL</a:t>
            </a:r>
          </a:p>
        </p:txBody>
      </p:sp>
      <p:pic>
        <p:nvPicPr>
          <p:cNvPr id="7" name="Picture 6" descr="UMBC-primary-logo-CMYK-on-black.png">
            <a:extLst>
              <a:ext uri="{FF2B5EF4-FFF2-40B4-BE49-F238E27FC236}">
                <a16:creationId xmlns:a16="http://schemas.microsoft.com/office/drawing/2014/main" id="{13DFB92C-076D-4245-A46B-BBF0C25D98A5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02"/>
          <a:stretch/>
        </p:blipFill>
        <p:spPr>
          <a:xfrm>
            <a:off x="8647318" y="60511"/>
            <a:ext cx="449617" cy="477371"/>
          </a:xfrm>
          <a:prstGeom prst="rect">
            <a:avLst/>
          </a:prstGeom>
        </p:spPr>
      </p:pic>
      <p:sp>
        <p:nvSpPr>
          <p:cNvPr id="8" name="Slide Number Placeholder 5">
            <a:extLst>
              <a:ext uri="{FF2B5EF4-FFF2-40B4-BE49-F238E27FC236}">
                <a16:creationId xmlns:a16="http://schemas.microsoft.com/office/drawing/2014/main" id="{091EB1F7-1820-C6B1-E179-C9A1D316182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7343054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858517"/>
            <a:ext cx="5486400" cy="425054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717648"/>
            <a:ext cx="5486400" cy="30861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283570"/>
            <a:ext cx="5486400" cy="603647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pic>
        <p:nvPicPr>
          <p:cNvPr id="5" name="Picture 4" descr="UMBC-primary-logo-CMYK-on-black.png">
            <a:extLst>
              <a:ext uri="{FF2B5EF4-FFF2-40B4-BE49-F238E27FC236}">
                <a16:creationId xmlns:a16="http://schemas.microsoft.com/office/drawing/2014/main" id="{A4B53916-F5FC-7344-852B-551758A3CEE3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78302"/>
          <a:stretch/>
        </p:blipFill>
        <p:spPr>
          <a:xfrm>
            <a:off x="8647318" y="60511"/>
            <a:ext cx="449617" cy="477371"/>
          </a:xfrm>
          <a:prstGeom prst="rect">
            <a:avLst/>
          </a:prstGeom>
        </p:spPr>
      </p:pic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E3230C-11A2-1A81-5646-C203CCC00EC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268093" y="4717864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E75FF4DE-8BE1-422A-93E8-8BDA71D6010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803271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2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image" Target="../media/image1.png"/><Relationship Id="rId5" Type="http://schemas.openxmlformats.org/officeDocument/2006/relationships/slideLayout" Target="../slideLayouts/slideLayout5.xml"/><Relationship Id="rId10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702644"/>
            <a:ext cx="8229600" cy="644065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10179"/>
            <a:ext cx="8229600" cy="298444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6941882-4944-4368-B870-3EBD7D64D983}" type="datetime1">
              <a:rPr lang="en-US" smtClean="0"/>
              <a:t>11/30/2025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 dirty="0"/>
              <a:t>URL</a:t>
            </a:r>
          </a:p>
        </p:txBody>
      </p:sp>
      <p:pic>
        <p:nvPicPr>
          <p:cNvPr id="7" name="Picture 6" descr="MD-flag-background-ppt.png"/>
          <p:cNvPicPr>
            <a:picLocks noChangeAspect="1"/>
          </p:cNvPicPr>
          <p:nvPr userDrawn="1"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9143999" cy="571500"/>
          </a:xfrm>
          <a:prstGeom prst="rect">
            <a:avLst/>
          </a:prstGeom>
        </p:spPr>
      </p:pic>
      <p:pic>
        <p:nvPicPr>
          <p:cNvPr id="10" name="Picture 9" descr="corner-element.png"/>
          <p:cNvPicPr>
            <a:picLocks noChangeAspect="1"/>
          </p:cNvPicPr>
          <p:nvPr userDrawn="1"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19918" y="3901058"/>
            <a:ext cx="1224081" cy="124244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8029037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</p:sldLayoutIdLst>
  <p:hf hdr="0" ftr="0" dt="0"/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hyperlink" Target="mailto:fgonzale@umbc.edu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4" Type="http://schemas.openxmlformats.org/officeDocument/2006/relationships/chart" Target="../charts/char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Subtitle 6">
            <a:extLst>
              <a:ext uri="{FF2B5EF4-FFF2-40B4-BE49-F238E27FC236}">
                <a16:creationId xmlns:a16="http://schemas.microsoft.com/office/drawing/2014/main" id="{325F4B55-9B5E-A046-A0AA-97BE96F9982D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75199" y="3563526"/>
            <a:ext cx="6400800" cy="1320800"/>
          </a:xfrm>
        </p:spPr>
        <p:txBody>
          <a:bodyPr>
            <a:normAutofit fontScale="55000" lnSpcReduction="20000"/>
          </a:bodyPr>
          <a:lstStyle/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Felix Gonzalez, P.E. (</a:t>
            </a:r>
            <a:r>
              <a:rPr lang="en-US" sz="2800" dirty="0">
                <a:hlinkClick r:id="rId2"/>
              </a:rPr>
              <a:t>fgonzale@umbc.edu</a:t>
            </a:r>
            <a:r>
              <a:rPr lang="en-US" sz="2800" dirty="0"/>
              <a:t>)</a:t>
            </a:r>
            <a:endParaRPr lang="en-US" sz="2800" b="0" i="0" dirty="0">
              <a:solidFill>
                <a:srgbClr val="222222"/>
              </a:solidFill>
              <a:effectLst/>
              <a:latin typeface="Arial" panose="020B0604020202020204" pitchFamily="34" charset="0"/>
            </a:endParaRP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Adjunct Instructor</a:t>
            </a: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Division of Professional Studies</a:t>
            </a: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Computer Science and Electrical Engineering</a:t>
            </a:r>
          </a:p>
          <a:p>
            <a:pPr algn="l"/>
            <a:r>
              <a:rPr lang="en-US" sz="2800" b="0" i="0" dirty="0">
                <a:solidFill>
                  <a:srgbClr val="222222"/>
                </a:solidFill>
                <a:effectLst/>
                <a:latin typeface="Arial" panose="020B0604020202020204" pitchFamily="34" charset="0"/>
              </a:rPr>
              <a:t>University of Maryland Baltimore County</a:t>
            </a:r>
            <a:endParaRPr lang="en-US" dirty="0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CACC570-F208-5741-9CF1-03630BBA85F9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DATA 601 –Ethics Survey Design</a:t>
            </a:r>
          </a:p>
        </p:txBody>
      </p:sp>
    </p:spTree>
    <p:extLst>
      <p:ext uri="{BB962C8B-B14F-4D97-AF65-F5344CB8AC3E}">
        <p14:creationId xmlns:p14="http://schemas.microsoft.com/office/powerpoint/2010/main" val="799092780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rPr lang="en-US" dirty="0"/>
              <a:t>Survey Design: 7-Step Process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quarter" idx="1"/>
          </p:nvPr>
        </p:nvSpPr>
        <p:spPr>
          <a:xfrm>
            <a:off x="317635" y="984755"/>
            <a:ext cx="8213806" cy="360045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Step 1: Literature Review</a:t>
            </a:r>
          </a:p>
          <a:p>
            <a:r>
              <a:rPr lang="en-US" dirty="0"/>
              <a:t>Step 2: Interview Experts &amp; Create Focus Groups from Target Population </a:t>
            </a:r>
          </a:p>
          <a:p>
            <a:r>
              <a:rPr lang="en-US" dirty="0"/>
              <a:t>Step 3: Synthesize</a:t>
            </a:r>
          </a:p>
          <a:p>
            <a:r>
              <a:rPr lang="en-US" dirty="0"/>
              <a:t>Step 4: Develop Items</a:t>
            </a:r>
          </a:p>
          <a:p>
            <a:r>
              <a:rPr lang="en-US" dirty="0"/>
              <a:t>Step 5: Expert Validation</a:t>
            </a:r>
          </a:p>
          <a:p>
            <a:r>
              <a:rPr lang="en-US" dirty="0"/>
              <a:t>Step 6: Cognitive Interviewing</a:t>
            </a:r>
          </a:p>
          <a:p>
            <a:r>
              <a:rPr lang="en-US" dirty="0"/>
              <a:t>Step 7: Pilot Test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82E0A5D-E924-6958-2F17-20E82914272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5FF4DE-8BE1-422A-93E8-8BDA71D6010B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2051707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15000"/>
    </mc:Choice>
    <mc:Fallback xmlns="">
      <p:transition spd="slow" advClick="0" advTm="15000"/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0A364E-E48D-BF4F-B797-1F6A63EA7E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Design is Almost an Art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26C95E-1769-3E46-AB91-A394C25A3AE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43752" y="659714"/>
            <a:ext cx="8229600" cy="4241470"/>
          </a:xfrm>
        </p:spPr>
        <p:txBody>
          <a:bodyPr>
            <a:normAutofit fontScale="92500" lnSpcReduction="10000"/>
          </a:bodyPr>
          <a:lstStyle/>
          <a:p>
            <a:r>
              <a:rPr lang="en-US" dirty="0"/>
              <a:t>Population matters</a:t>
            </a:r>
          </a:p>
          <a:p>
            <a:pPr lvl="1"/>
            <a:r>
              <a:rPr lang="en-US" dirty="0"/>
              <a:t>Females more likely to respond than males</a:t>
            </a:r>
          </a:p>
          <a:p>
            <a:pPr lvl="1"/>
            <a:r>
              <a:rPr lang="en-US" dirty="0"/>
              <a:t>Younger generation less likely to join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r>
              <a:rPr lang="en-US" dirty="0"/>
              <a:t>Questions matter </a:t>
            </a:r>
            <a:r>
              <a:rPr lang="en-US" dirty="0">
                <a:sym typeface="Wingdings" pitchFamily="2" charset="2"/>
              </a:rPr>
              <a:t> Next Slides</a:t>
            </a:r>
            <a:endParaRPr lang="en-US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037BC11-D4F3-7E46-A90B-36294344C38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087746" y="1964853"/>
            <a:ext cx="3563246" cy="2325311"/>
          </a:xfrm>
          <a:prstGeom prst="rect">
            <a:avLst/>
          </a:prstGeom>
        </p:spPr>
      </p:pic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D7934E3-8BFF-BA42-9AB1-EB89B86A74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5FF4DE-8BE1-422A-93E8-8BDA71D6010B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4396616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Survey Design: Questions Matter </a:t>
            </a:r>
          </a:p>
        </p:txBody>
      </p:sp>
      <p:graphicFrame>
        <p:nvGraphicFramePr>
          <p:cNvPr id="8" name="Group 92"/>
          <p:cNvGraphicFramePr>
            <a:graphicFrameLocks noGrp="1"/>
          </p:cNvGraphicFramePr>
          <p:nvPr>
            <p:ph sz="quarter" idx="1"/>
          </p:nvPr>
        </p:nvGraphicFramePr>
        <p:xfrm>
          <a:off x="2000250" y="1851091"/>
          <a:ext cx="5200650" cy="708660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537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2512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strongly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disagree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disagree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neither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agree nor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disagree </a:t>
                      </a: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agree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strongly </a:t>
                      </a:r>
                    </a:p>
                    <a:p>
                      <a:pPr marL="342900" marR="0" lvl="0" indent="-34290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agree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5" name="Slide Number Placeholder 5"/>
          <p:cNvSpPr>
            <a:spLocks noGrp="1"/>
          </p:cNvSpPr>
          <p:nvPr>
            <p:ph type="sldNum" sz="quarter" idx="4294967295"/>
          </p:nvPr>
        </p:nvSpPr>
        <p:spPr>
          <a:xfrm>
            <a:off x="7658100" y="5586413"/>
            <a:ext cx="342900" cy="357188"/>
          </a:xfrm>
          <a:noFill/>
        </p:spPr>
        <p:txBody>
          <a:bodyPr/>
          <a:lstStyle/>
          <a:p>
            <a:fld id="{C6B1443D-1106-46EE-BA19-4862750D5A18}" type="slidenum">
              <a:rPr lang="en-US" smtClean="0"/>
              <a:pPr/>
              <a:t>4</a:t>
            </a:fld>
            <a:endParaRPr lang="en-US" dirty="0"/>
          </a:p>
        </p:txBody>
      </p:sp>
      <p:sp>
        <p:nvSpPr>
          <p:cNvPr id="7" name="Text Box 4"/>
          <p:cNvSpPr txBox="1">
            <a:spLocks noChangeArrowheads="1"/>
          </p:cNvSpPr>
          <p:nvPr/>
        </p:nvSpPr>
        <p:spPr bwMode="auto">
          <a:xfrm>
            <a:off x="1845871" y="1528372"/>
            <a:ext cx="5600700" cy="300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eaLnBrk="1" hangingPunct="1">
              <a:spcBef>
                <a:spcPct val="50000"/>
              </a:spcBef>
            </a:pPr>
            <a:r>
              <a:rPr lang="en-US" sz="1350" dirty="0"/>
              <a:t>The global economy is the most important issue in the world today.</a:t>
            </a:r>
          </a:p>
        </p:txBody>
      </p:sp>
      <p:sp>
        <p:nvSpPr>
          <p:cNvPr id="9" name="Text Box 52"/>
          <p:cNvSpPr txBox="1">
            <a:spLocks noChangeArrowheads="1"/>
          </p:cNvSpPr>
          <p:nvPr/>
        </p:nvSpPr>
        <p:spPr bwMode="auto">
          <a:xfrm>
            <a:off x="1845871" y="3416815"/>
            <a:ext cx="5600700" cy="300082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9525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sz="1350" dirty="0"/>
              <a:t>How important is the issue of the global economy in the world today?</a:t>
            </a:r>
          </a:p>
        </p:txBody>
      </p:sp>
      <p:graphicFrame>
        <p:nvGraphicFramePr>
          <p:cNvPr id="10" name="Group 80"/>
          <p:cNvGraphicFramePr>
            <a:graphicFrameLocks noGrp="1"/>
          </p:cNvGraphicFramePr>
          <p:nvPr/>
        </p:nvGraphicFramePr>
        <p:xfrm>
          <a:off x="1988746" y="3726204"/>
          <a:ext cx="5200649" cy="708660"/>
        </p:xfrm>
        <a:graphic>
          <a:graphicData uri="http://schemas.openxmlformats.org/drawingml/2006/table">
            <a:tbl>
              <a:tblPr/>
              <a:tblGrid>
                <a:gridCol w="104060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382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0606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0606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0606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685800"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not at all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Important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slightly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important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moderately 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important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quite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important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extremely</a:t>
                      </a:r>
                    </a:p>
                    <a:p>
                      <a:pPr marL="342900" marR="0" lvl="0" indent="-34290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lt"/>
                          <a:cs typeface="Times New Roman" pitchFamily="18" charset="0"/>
                        </a:rPr>
                        <a:t>important</a:t>
                      </a:r>
                      <a:endParaRPr kumimoji="0" lang="en-US" sz="14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lt"/>
                      </a:endParaRPr>
                    </a:p>
                  </a:txBody>
                  <a:tcPr marL="68580" marR="68580" marT="34290" marB="34290" horzOverflow="overflow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" name="TextBox 3">
            <a:extLst>
              <a:ext uri="{FF2B5EF4-FFF2-40B4-BE49-F238E27FC236}">
                <a16:creationId xmlns:a16="http://schemas.microsoft.com/office/drawing/2014/main" id="{801EB38F-2BA3-094C-99C7-E7A142295987}"/>
              </a:ext>
            </a:extLst>
          </p:cNvPr>
          <p:cNvSpPr txBox="1"/>
          <p:nvPr/>
        </p:nvSpPr>
        <p:spPr>
          <a:xfrm>
            <a:off x="452761" y="852256"/>
            <a:ext cx="6326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 seemingly straight forward question can lead to inaccurate data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7A06F75-3925-1849-80AD-297F2F3D1D65}"/>
              </a:ext>
            </a:extLst>
          </p:cNvPr>
          <p:cNvSpPr txBox="1"/>
          <p:nvPr/>
        </p:nvSpPr>
        <p:spPr>
          <a:xfrm>
            <a:off x="452761" y="2881156"/>
            <a:ext cx="314002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Now look at the revised version</a:t>
            </a:r>
          </a:p>
        </p:txBody>
      </p:sp>
    </p:spTree>
    <p:extLst>
      <p:ext uri="{BB962C8B-B14F-4D97-AF65-F5344CB8AC3E}">
        <p14:creationId xmlns:p14="http://schemas.microsoft.com/office/powerpoint/2010/main" val="100447505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36000"/>
    </mc:Choice>
    <mc:Fallback xmlns="">
      <p:transition spd="slow" advClick="0" advTm="36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Title 1"/>
          <p:cNvSpPr>
            <a:spLocks noGrp="1"/>
          </p:cNvSpPr>
          <p:nvPr>
            <p:ph type="title"/>
          </p:nvPr>
        </p:nvSpPr>
        <p:spPr/>
        <p:txBody>
          <a:bodyPr>
            <a:noAutofit/>
          </a:bodyPr>
          <a:lstStyle/>
          <a:p>
            <a:pPr marL="431006" indent="-431006"/>
            <a:r>
              <a:rPr lang="en-US" sz="2800" dirty="0"/>
              <a:t>Survey Design: Questions Matter </a:t>
            </a:r>
            <a:endParaRPr lang="en-US" sz="2400" dirty="0"/>
          </a:p>
        </p:txBody>
      </p:sp>
      <p:sp>
        <p:nvSpPr>
          <p:cNvPr id="8" name="Content Placeholder 2"/>
          <p:cNvSpPr>
            <a:spLocks noGrp="1"/>
          </p:cNvSpPr>
          <p:nvPr>
            <p:ph idx="1"/>
          </p:nvPr>
        </p:nvSpPr>
        <p:spPr>
          <a:xfrm>
            <a:off x="650844" y="1081973"/>
            <a:ext cx="2909102" cy="2721436"/>
          </a:xfrm>
        </p:spPr>
        <p:txBody>
          <a:bodyPr>
            <a:noAutofit/>
          </a:bodyPr>
          <a:lstStyle/>
          <a:p>
            <a:pPr>
              <a:buFontTx/>
              <a:buNone/>
            </a:pPr>
            <a:r>
              <a:rPr lang="en-US" sz="1350" dirty="0" err="1"/>
              <a:t>Q8</a:t>
            </a:r>
            <a:r>
              <a:rPr lang="en-US" sz="1350" dirty="0"/>
              <a:t>) As some of you may know, the university is debating whether to move some parts of the university to a new section of campus in Rockville.  Do you think the university should move to Rockville?</a:t>
            </a:r>
          </a:p>
          <a:p>
            <a:pPr>
              <a:buFontTx/>
              <a:buNone/>
            </a:pPr>
            <a:endParaRPr lang="en-US" sz="1350" dirty="0"/>
          </a:p>
        </p:txBody>
      </p:sp>
      <p:sp>
        <p:nvSpPr>
          <p:cNvPr id="9" name="Content Placeholder 3"/>
          <p:cNvSpPr txBox="1">
            <a:spLocks/>
          </p:cNvSpPr>
          <p:nvPr/>
        </p:nvSpPr>
        <p:spPr>
          <a:xfrm>
            <a:off x="4837466" y="1019958"/>
            <a:ext cx="2971800" cy="1828800"/>
          </a:xfrm>
          <a:prstGeom prst="rect">
            <a:avLst/>
          </a:prstGeom>
        </p:spPr>
        <p:txBody>
          <a:bodyPr/>
          <a:lstStyle/>
          <a:p>
            <a:pPr marL="274320" indent="-212598" defTabSz="685800">
              <a:buClr>
                <a:schemeClr val="accent1"/>
              </a:buClr>
              <a:buSzPct val="80000"/>
              <a:defRPr/>
            </a:pPr>
            <a:r>
              <a:rPr lang="en-US" sz="1350" dirty="0" err="1"/>
              <a:t>Q8</a:t>
            </a:r>
            <a:r>
              <a:rPr lang="en-US" sz="1350" dirty="0"/>
              <a:t>) As some of you may know, the university is debating whether to move some parts of the university to a new section of campus in Rockville. Do you think the university should move to Rockville </a:t>
            </a:r>
            <a:r>
              <a:rPr lang="en-US" sz="1350" b="1" i="1" u="sng" dirty="0"/>
              <a:t>so that the school can have more space</a:t>
            </a:r>
            <a:r>
              <a:rPr lang="en-US" sz="1350" b="1" i="1" dirty="0"/>
              <a:t>?</a:t>
            </a:r>
          </a:p>
          <a:p>
            <a:pPr marL="274320" indent="-212598" defTabSz="685800">
              <a:buClr>
                <a:schemeClr val="accent1"/>
              </a:buClr>
              <a:buSzPct val="80000"/>
              <a:defRPr/>
            </a:pPr>
            <a:endParaRPr lang="en-US" sz="1350" dirty="0"/>
          </a:p>
        </p:txBody>
      </p:sp>
      <p:sp>
        <p:nvSpPr>
          <p:cNvPr id="10" name="Content Placeholder 2"/>
          <p:cNvSpPr txBox="1">
            <a:spLocks/>
          </p:cNvSpPr>
          <p:nvPr/>
        </p:nvSpPr>
        <p:spPr bwMode="auto">
          <a:xfrm>
            <a:off x="443752" y="571501"/>
            <a:ext cx="5715000" cy="479822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257175" indent="-257175" eaLnBrk="0" hangingPunct="0">
              <a:spcBef>
                <a:spcPct val="20000"/>
              </a:spcBef>
              <a:spcAft>
                <a:spcPts val="450"/>
              </a:spcAft>
              <a:defRPr/>
            </a:pPr>
            <a:r>
              <a:rPr lang="en-US" kern="0" dirty="0"/>
              <a:t>	</a:t>
            </a:r>
            <a:r>
              <a:rPr lang="en-US" sz="1500" b="1" kern="0" dirty="0"/>
              <a:t>Providing a reason…</a:t>
            </a:r>
          </a:p>
          <a:p>
            <a:pPr marL="257175" indent="-257175" eaLnBrk="0" hangingPunct="0">
              <a:spcBef>
                <a:spcPct val="20000"/>
              </a:spcBef>
              <a:spcAft>
                <a:spcPts val="450"/>
              </a:spcAft>
              <a:defRPr/>
            </a:pPr>
            <a:endParaRPr lang="en-US" kern="0" dirty="0"/>
          </a:p>
        </p:txBody>
      </p:sp>
      <p:graphicFrame>
        <p:nvGraphicFramePr>
          <p:cNvPr id="14" name="Chart 13"/>
          <p:cNvGraphicFramePr/>
          <p:nvPr/>
        </p:nvGraphicFramePr>
        <p:xfrm>
          <a:off x="724074" y="3173795"/>
          <a:ext cx="3086100" cy="123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15" name="Rectangle 14"/>
          <p:cNvSpPr/>
          <p:nvPr/>
        </p:nvSpPr>
        <p:spPr>
          <a:xfrm>
            <a:off x="1631597" y="2896796"/>
            <a:ext cx="101720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b="1" dirty="0"/>
              <a:t>Yes = 12.5%</a:t>
            </a:r>
            <a:endParaRPr lang="en-US" sz="1350" dirty="0"/>
          </a:p>
        </p:txBody>
      </p:sp>
      <p:graphicFrame>
        <p:nvGraphicFramePr>
          <p:cNvPr id="16" name="Chart 15"/>
          <p:cNvGraphicFramePr/>
          <p:nvPr/>
        </p:nvGraphicFramePr>
        <p:xfrm>
          <a:off x="4974828" y="3184284"/>
          <a:ext cx="1857375" cy="123825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4"/>
          </a:graphicData>
        </a:graphic>
      </p:graphicFrame>
      <p:sp>
        <p:nvSpPr>
          <p:cNvPr id="17" name="Rectangle 16"/>
          <p:cNvSpPr/>
          <p:nvPr/>
        </p:nvSpPr>
        <p:spPr>
          <a:xfrm>
            <a:off x="5339836" y="2899570"/>
            <a:ext cx="1017202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1350" b="1" dirty="0"/>
              <a:t>Yes = 55.6%</a:t>
            </a:r>
            <a:endParaRPr lang="en-US" sz="135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7318A5A-FC11-874B-A56C-7D8F20694001}"/>
              </a:ext>
            </a:extLst>
          </p:cNvPr>
          <p:cNvSpPr/>
          <p:nvPr/>
        </p:nvSpPr>
        <p:spPr>
          <a:xfrm>
            <a:off x="1713391" y="4497169"/>
            <a:ext cx="5696883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dirty="0"/>
              <a:t>Giving a reason will improve the extent to which people agree with you, and impact the accuracy of your survey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5F4596CD-3FFA-C2F6-C267-4A7A3F452AE7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5FF4DE-8BE1-422A-93E8-8BDA71D6010B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379354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Click="0" advTm="48000"/>
    </mc:Choice>
    <mc:Fallback xmlns="">
      <p:transition spd="slow" advClick="0" advTm="4800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  <p:bldGraphic spid="16" grpId="0">
        <p:bldAsOne/>
      </p:bldGraphic>
      <p:bldP spid="17" grpId="0"/>
      <p:bldP spid="4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0787E53-9095-057A-7176-40EDAC4DBF0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1241" y="2331878"/>
            <a:ext cx="3046945" cy="673342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n-US" sz="4000" dirty="0"/>
              <a:t>Questions?</a:t>
            </a:r>
          </a:p>
        </p:txBody>
      </p:sp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19684697-4EB9-4695-C0E9-03DF198AA67C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/>
        <p:txBody>
          <a:bodyPr/>
          <a:lstStyle/>
          <a:p>
            <a:fld id="{E75FF4DE-8BE1-422A-93E8-8BDA71D6010B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237542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1376</TotalTime>
  <Words>326</Words>
  <Application>Microsoft Office PowerPoint</Application>
  <PresentationFormat>On-screen Show (16:9)</PresentationFormat>
  <Paragraphs>71</Paragraphs>
  <Slides>6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0" baseType="lpstr">
      <vt:lpstr>Arial</vt:lpstr>
      <vt:lpstr>Calibri</vt:lpstr>
      <vt:lpstr>Wingdings</vt:lpstr>
      <vt:lpstr>Office Theme</vt:lpstr>
      <vt:lpstr>DATA 601 –Ethics Survey Design</vt:lpstr>
      <vt:lpstr>Survey Design: 7-Step Process</vt:lpstr>
      <vt:lpstr>Survey Design is Almost an Art </vt:lpstr>
      <vt:lpstr>Survey Design: Questions Matter </vt:lpstr>
      <vt:lpstr>Survey Design: Questions Matter </vt:lpstr>
      <vt:lpstr>PowerPoint Presentation</vt:lpstr>
    </vt:vector>
  </TitlesOfParts>
  <Company>UMBC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Jim Lord</dc:creator>
  <cp:lastModifiedBy>Felix Gonzalez</cp:lastModifiedBy>
  <cp:revision>105</cp:revision>
  <dcterms:created xsi:type="dcterms:W3CDTF">2019-02-27T15:38:32Z</dcterms:created>
  <dcterms:modified xsi:type="dcterms:W3CDTF">2025-12-01T03:00:26Z</dcterms:modified>
</cp:coreProperties>
</file>